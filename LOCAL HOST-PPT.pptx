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24EB5-0A83-4696-91E2-E413515A2B2B}" v="3" dt="2026-05-02T01:39:21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95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yourselves briefly. This is a real-time AI system built for small and mid-scale farmers. Set the stage for the problem you are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financial burden. A single diseased cow can wipe out a month's income. Existing wearables are priced out of reach for most Indian farmers.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entire system runs on a simple webcam — no expensive hardware. AI runs on a laptop or PC, accessible to any farmer with basic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feature. Highlight that combining computer vision with IoT sensors gives a holistic health picture. The emergency alert feature can save thousands of rupees.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Python Flask backend processes each frame, data flows to Firebase, and the mobile app receives live updates. Full round trip under 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rule-based engine is transparent and explainable. Farmers and vets can understand exactly why an alert was triggered. Vision AI + sensors gives a holistic health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one-tap vet call is a huge differentiator for rural farmers. Firebase ensures push notifications work even on low-bandwidth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₹1,500 hardware vs ₹50,000 loss — clear ROI. 85% precision achieved using public datasets + custom augmentation. Reduced false alerts improve farmer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vision: a scalable platform for millions of cattle across India. Next milestone is Raspberry Pi deployment for fully autonomous offline operation. Thank judges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Shape 1"/>
          <p:cNvSpPr/>
          <p:nvPr/>
        </p:nvSpPr>
        <p:spPr>
          <a:xfrm>
            <a:off x="6746789" y="-685800"/>
            <a:ext cx="3474720" cy="3474720"/>
          </a:xfrm>
          <a:prstGeom prst="ellipse">
            <a:avLst/>
          </a:prstGeom>
          <a:solidFill>
            <a:srgbClr val="F4FAF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103120"/>
            <a:ext cx="2194560" cy="2194560"/>
          </a:xfrm>
          <a:prstGeom prst="ellipse">
            <a:avLst/>
          </a:prstGeom>
          <a:solidFill>
            <a:srgbClr val="FDE8D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200400"/>
            <a:ext cx="1463040" cy="1463040"/>
          </a:xfrm>
          <a:prstGeom prst="ellipse">
            <a:avLst/>
          </a:prstGeom>
          <a:solidFill>
            <a:srgbClr val="B7DFC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56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DEVSUMMIT •  2026</a:t>
            </a:r>
            <a:endParaRPr lang="en-US" sz="900" b="1" dirty="0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7589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Cattle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 ·  Real-Time  ·  AI-Powered Detection for Farmers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474720"/>
            <a:ext cx="5120640" cy="1371600"/>
          </a:xfrm>
          <a:prstGeom prst="rect">
            <a:avLst/>
          </a:prstGeom>
          <a:solidFill>
            <a:srgbClr val="F4FAF6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5844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9136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Subodh  —  App + System design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1696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Hritik  —  IOT integration 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442569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 —  Data &amp; Documentation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E76F51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9844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874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217920" y="27432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cow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late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5577840" cy="658368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" y="1298448"/>
            <a:ext cx="438912" cy="438912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3441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984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cannot monitor cattle 24×7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65760" y="1993392"/>
            <a:ext cx="5577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7DF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" y="2103120"/>
            <a:ext cx="438912" cy="438912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1488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1031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like Lameness &amp; Fever detected too late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365760" y="2798064"/>
            <a:ext cx="5577840" cy="658368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5488" y="2907792"/>
            <a:ext cx="438912" cy="438912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2953512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29077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wearable solutions cost too much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365760" y="3602736"/>
            <a:ext cx="5577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7DFC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5488" y="3712464"/>
            <a:ext cx="438912" cy="438912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3758184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371246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real-time monitoring exists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365760" y="4453128"/>
            <a:ext cx="8412480" cy="402336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26" name="Text 19"/>
          <p:cNvSpPr/>
          <p:nvPr/>
        </p:nvSpPr>
        <p:spPr>
          <a:xfrm>
            <a:off x="457200" y="44714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Issue: Lack of an AFFORDABLE real-time cattle health monitoring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389888"/>
            <a:ext cx="749808" cy="74980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444752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sensors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788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87168" y="1188720"/>
            <a:ext cx="19659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99816" y="1389888"/>
            <a:ext cx="749808" cy="74980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1444752"/>
            <a:ext cx="621792" cy="6217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7168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487168" y="2788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tracking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YOLOv8 or </a:t>
            </a:r>
            <a:r>
              <a:rPr lang="en-US" sz="1100" dirty="0" err="1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54296" y="1188720"/>
            <a:ext cx="19659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66944" y="1389888"/>
            <a:ext cx="749808" cy="74980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1444752"/>
            <a:ext cx="621792" cy="6217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54296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54296" y="2788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mobile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21424" y="1188720"/>
            <a:ext cx="19659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34072" y="1389888"/>
            <a:ext cx="749808" cy="74980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444752"/>
            <a:ext cx="621792" cy="6217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21424" y="2788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easy access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" y="4462272"/>
            <a:ext cx="8503920" cy="40233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19"/>
          <p:cNvSpPr/>
          <p:nvPr/>
        </p:nvSpPr>
        <p:spPr>
          <a:xfrm>
            <a:off x="320040" y="4480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Affordable  ·  Smart  ·  Real-Time  ·  No Wearables Required  ✦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651760" cy="1691640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109728" cy="16916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335024"/>
            <a:ext cx="658368" cy="65836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71600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3350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176479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or </a:t>
            </a:r>
            <a:r>
              <a:rPr lang="en-US" sz="1100" dirty="0" err="1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identifies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cows in real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170432"/>
            <a:ext cx="2651760" cy="1691640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70432"/>
            <a:ext cx="109728" cy="16916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3" name="Shape 10"/>
          <p:cNvSpPr/>
          <p:nvPr/>
        </p:nvSpPr>
        <p:spPr>
          <a:xfrm>
            <a:off x="3447288" y="1335024"/>
            <a:ext cx="658368" cy="65836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71600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3350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ID Tracking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06240" y="176479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assigned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each cow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170432"/>
            <a:ext cx="2651760" cy="1691640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170432"/>
            <a:ext cx="109728" cy="1691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Shape 15"/>
          <p:cNvSpPr/>
          <p:nvPr/>
        </p:nvSpPr>
        <p:spPr>
          <a:xfrm>
            <a:off x="6327648" y="1335024"/>
            <a:ext cx="658368" cy="65836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371600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0" y="13350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Monitor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086600" y="176479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 / Standing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090672"/>
            <a:ext cx="2651760" cy="1691640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3090672"/>
            <a:ext cx="109728" cy="16916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25" name="Shape 20"/>
          <p:cNvSpPr/>
          <p:nvPr/>
        </p:nvSpPr>
        <p:spPr>
          <a:xfrm>
            <a:off x="566928" y="3255264"/>
            <a:ext cx="658368" cy="65836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291840"/>
            <a:ext cx="566928" cy="5669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325526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325880" y="368503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AQI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46120" y="3090672"/>
            <a:ext cx="2651760" cy="1691640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3090672"/>
            <a:ext cx="109728" cy="16916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1" name="Shape 25"/>
          <p:cNvSpPr/>
          <p:nvPr/>
        </p:nvSpPr>
        <p:spPr>
          <a:xfrm>
            <a:off x="3447288" y="3255264"/>
            <a:ext cx="658368" cy="65836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291840"/>
            <a:ext cx="566928" cy="56692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206240" y="325526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206240" y="368503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alerts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vet contact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26480" y="3090672"/>
            <a:ext cx="2651760" cy="1691640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3090672"/>
            <a:ext cx="109728" cy="1691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7" name="Shape 30"/>
          <p:cNvSpPr/>
          <p:nvPr/>
        </p:nvSpPr>
        <p:spPr>
          <a:xfrm>
            <a:off x="6327648" y="3255264"/>
            <a:ext cx="658368" cy="65836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291840"/>
            <a:ext cx="566928" cy="56692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86600" y="325526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086600" y="368503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18488" y="2084832"/>
            <a:ext cx="438912" cy="54864"/>
          </a:xfrm>
          <a:prstGeom prst="rect">
            <a:avLst/>
          </a:prstGeom>
          <a:solidFill>
            <a:srgbClr val="B7DFC8"/>
          </a:solidFill>
          <a:ln/>
        </p:spPr>
      </p:sp>
      <p:sp>
        <p:nvSpPr>
          <p:cNvPr id="5" name="Text 3"/>
          <p:cNvSpPr/>
          <p:nvPr/>
        </p:nvSpPr>
        <p:spPr>
          <a:xfrm>
            <a:off x="1956816" y="19842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508760"/>
            <a:ext cx="1234440" cy="12344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C6E4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1907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" y="2880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Camera+Sensors</a:t>
            </a:r>
            <a:endParaRPr lang="en-US" sz="1200" b="1" dirty="0">
              <a:solidFill>
                <a:srgbClr val="1A3C3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73736" y="320040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28416" y="2084832"/>
            <a:ext cx="438912" cy="54864"/>
          </a:xfrm>
          <a:prstGeom prst="rect">
            <a:avLst/>
          </a:prstGeom>
          <a:solidFill>
            <a:srgbClr val="B7DFC8"/>
          </a:solidFill>
          <a:ln/>
        </p:spPr>
      </p:sp>
      <p:sp>
        <p:nvSpPr>
          <p:cNvPr id="11" name="Text 8"/>
          <p:cNvSpPr/>
          <p:nvPr/>
        </p:nvSpPr>
        <p:spPr>
          <a:xfrm>
            <a:off x="3666744" y="19842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93976" y="1508760"/>
            <a:ext cx="1234440" cy="12344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C6E4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1719072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83664" y="2880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883664" y="320040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Python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38344" y="2084832"/>
            <a:ext cx="438912" cy="54864"/>
          </a:xfrm>
          <a:prstGeom prst="rect">
            <a:avLst/>
          </a:prstGeom>
          <a:solidFill>
            <a:srgbClr val="B7DFC8"/>
          </a:solidFill>
          <a:ln/>
        </p:spPr>
      </p:sp>
      <p:sp>
        <p:nvSpPr>
          <p:cNvPr id="17" name="Text 13"/>
          <p:cNvSpPr/>
          <p:nvPr/>
        </p:nvSpPr>
        <p:spPr>
          <a:xfrm>
            <a:off x="5376672" y="19842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803904" y="1508760"/>
            <a:ext cx="1234440" cy="12344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C6E4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4" y="1719072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93592" y="2880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593592" y="320040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48272" y="2084832"/>
            <a:ext cx="438912" cy="54864"/>
          </a:xfrm>
          <a:prstGeom prst="rect">
            <a:avLst/>
          </a:prstGeom>
          <a:solidFill>
            <a:srgbClr val="B7DFC8"/>
          </a:solidFill>
          <a:ln/>
        </p:spPr>
      </p:sp>
      <p:sp>
        <p:nvSpPr>
          <p:cNvPr id="23" name="Text 18"/>
          <p:cNvSpPr/>
          <p:nvPr/>
        </p:nvSpPr>
        <p:spPr>
          <a:xfrm>
            <a:off x="7086600" y="19842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513832" y="1508760"/>
            <a:ext cx="1234440" cy="12344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C6E4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1719072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2880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03520" y="320040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DB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223760" y="1508760"/>
            <a:ext cx="1234440" cy="12344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C6E4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719072"/>
            <a:ext cx="594360" cy="5943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13448" y="2880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013448" y="320040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FCM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65760" y="3749040"/>
            <a:ext cx="3840480" cy="594360"/>
          </a:xfrm>
          <a:prstGeom prst="rect">
            <a:avLst/>
          </a:prstGeom>
          <a:solidFill>
            <a:srgbClr val="FDE8D0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365760" y="3794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Processing: 30–40 ms per frame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663440" y="3749040"/>
            <a:ext cx="4114800" cy="594360"/>
          </a:xfrm>
          <a:prstGeom prst="rect">
            <a:avLst/>
          </a:prstGeom>
          <a:solidFill>
            <a:srgbClr val="EDF7F0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4663440" y="3794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Alert Delivery: 1–2 seconds via Firebase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&amp; Health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298448"/>
            <a:ext cx="1828800" cy="18288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81328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Sensors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3639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— microcontroller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931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— Temperature &amp; Humidity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224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MQ-135 — AQI detection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45171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Sensor Mode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143000"/>
            <a:ext cx="4206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0" y="12618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Health Engine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09160" y="1810512"/>
            <a:ext cx="3840480" cy="40233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1837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Normal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09160" y="2340864"/>
            <a:ext cx="3840480" cy="4023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4709160" y="23682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09160" y="2871216"/>
            <a:ext cx="3840480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Emergency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09160" y="34381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Diseases: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9160" y="3767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🦵 Lameness  (excess lying time)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Fever  (high temperature)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09160" y="4352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Respiratory Issues  (high ammonia)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&amp; Real-Time Alerts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03520" cy="749808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16736"/>
            <a:ext cx="502920" cy="5029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533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280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5727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 &amp; Android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075688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203704"/>
            <a:ext cx="502920" cy="5029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2402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21671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Backend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70432" y="245973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live database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962656"/>
            <a:ext cx="5303520" cy="749808"/>
          </a:xfrm>
          <a:prstGeom prst="rect">
            <a:avLst/>
          </a:prstGeom>
          <a:solidFill>
            <a:srgbClr val="EDF7F0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920" y="3090672"/>
            <a:ext cx="502920" cy="5029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1272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0540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70432" y="334670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849624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3977640"/>
            <a:ext cx="502920" cy="5029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401421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70432" y="39410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Dashboard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70432" y="42336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ID, Status, Disease + Vet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43600" y="1188720"/>
            <a:ext cx="2834640" cy="1444752"/>
          </a:xfrm>
          <a:prstGeom prst="rect">
            <a:avLst/>
          </a:prstGeom>
          <a:solidFill>
            <a:srgbClr val="F4A261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943600" y="133502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</a:t>
            </a:r>
            <a:endParaRPr lang="en-US" sz="3800" dirty="0"/>
          </a:p>
        </p:txBody>
      </p:sp>
      <p:sp>
        <p:nvSpPr>
          <p:cNvPr id="27" name="Text 21"/>
          <p:cNvSpPr/>
          <p:nvPr/>
        </p:nvSpPr>
        <p:spPr>
          <a:xfrm>
            <a:off x="5943600" y="19933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 Time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943600" y="2816352"/>
            <a:ext cx="2834640" cy="1444752"/>
          </a:xfrm>
          <a:prstGeom prst="rect">
            <a:avLst/>
          </a:prstGeom>
          <a:solidFill>
            <a:srgbClr val="EDF7F0"/>
          </a:solidFill>
          <a:ln w="25400">
            <a:solidFill>
              <a:srgbClr val="2C6E4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943600" y="296265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</a:t>
            </a:r>
            <a:endParaRPr lang="en-US" sz="3800" dirty="0"/>
          </a:p>
        </p:txBody>
      </p:sp>
      <p:sp>
        <p:nvSpPr>
          <p:cNvPr id="30" name="Text 24"/>
          <p:cNvSpPr/>
          <p:nvPr/>
        </p:nvSpPr>
        <p:spPr>
          <a:xfrm>
            <a:off x="5943600" y="362102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Nearest Vet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Accuracy &amp; Cost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645920"/>
          </a:xfrm>
          <a:prstGeom prst="rect">
            <a:avLst/>
          </a:prstGeom>
          <a:solidFill>
            <a:srgbClr val="2C6E49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984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0756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645920"/>
          </a:xfrm>
          <a:prstGeom prst="rect">
            <a:avLst/>
          </a:prstGeom>
          <a:solidFill>
            <a:srgbClr val="E76F51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2984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46120" y="20756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1645920"/>
          </a:xfrm>
          <a:prstGeom prst="rect">
            <a:avLst/>
          </a:prstGeom>
          <a:solidFill>
            <a:srgbClr val="F4A261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984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20756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303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8211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CBVD-5 public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044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Cattle Behavior Dataset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24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synthetic dataset (augmentation)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063240"/>
            <a:ext cx="2834640" cy="1755648"/>
          </a:xfrm>
          <a:prstGeom prst="rect">
            <a:avLst/>
          </a:prstGeom>
          <a:solidFill>
            <a:srgbClr val="2C6E49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31546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D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Free / Open Source)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8130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Free Tier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40599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430682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(MIT)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4553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(AGPL)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&amp; 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1508760"/>
          </a:xfrm>
          <a:prstGeom prst="rect">
            <a:avLst/>
          </a:prstGeom>
          <a:solidFill>
            <a:srgbClr val="EDF7F0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234440"/>
            <a:ext cx="731520" cy="7315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29844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574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1143000"/>
            <a:ext cx="1920240" cy="1508760"/>
          </a:xfrm>
          <a:prstGeom prst="rect">
            <a:avLst/>
          </a:prstGeom>
          <a:solidFill>
            <a:srgbClr val="EDF7F0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60" y="1234440"/>
            <a:ext cx="731520" cy="7315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29844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20574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Advanced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143000"/>
            <a:ext cx="1920240" cy="1508760"/>
          </a:xfrm>
          <a:prstGeom prst="rect">
            <a:avLst/>
          </a:prstGeom>
          <a:solidFill>
            <a:srgbClr val="EDF7F0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57800" y="1234440"/>
            <a:ext cx="731520" cy="7315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1298448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0574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&amp; Sound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12280" y="1143000"/>
            <a:ext cx="1920240" cy="1508760"/>
          </a:xfrm>
          <a:prstGeom prst="rect">
            <a:avLst/>
          </a:prstGeom>
          <a:solidFill>
            <a:srgbClr val="EDF7F0"/>
          </a:solidFill>
          <a:ln w="19050">
            <a:solidFill>
              <a:srgbClr val="B7DFC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06640" y="1234440"/>
            <a:ext cx="731520" cy="73152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1298448"/>
            <a:ext cx="603504" cy="6035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20574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2816352"/>
            <a:ext cx="8412480" cy="36576"/>
          </a:xfrm>
          <a:prstGeom prst="rect">
            <a:avLst/>
          </a:prstGeom>
          <a:solidFill>
            <a:srgbClr val="B7DFC8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" y="28895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Solution Wins</a:t>
            </a:r>
            <a:endParaRPr lang="en-US" sz="15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7355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327355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wearables required  ·  Easy setup in minutes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621024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2960" y="3621024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₹1,500 vs ₹50,000 potential loss per cow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968496"/>
            <a:ext cx="310896" cy="31089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22960" y="3968496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24×7 monitoring with instant mobile alerts</a:t>
            </a:r>
            <a:endParaRPr lang="en-US" sz="12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315968"/>
            <a:ext cx="310896" cy="31089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22960" y="431596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works for 1 cow or 1,000 cows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22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  Affordable · Smart · Real-Time — Protecting India's Cattle, One Alert at a Time  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712</Words>
  <Application>Microsoft Office PowerPoint</Application>
  <PresentationFormat>On-screen Show 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Cattle Health Monitoring System</dc:title>
  <dc:subject>PptxGenJS Presentation</dc:subject>
  <dc:creator>PptxGenJS</dc:creator>
  <cp:lastModifiedBy>Rider King</cp:lastModifiedBy>
  <cp:revision>3</cp:revision>
  <dcterms:created xsi:type="dcterms:W3CDTF">2026-05-02T01:08:17Z</dcterms:created>
  <dcterms:modified xsi:type="dcterms:W3CDTF">2026-05-02T01:46:33Z</dcterms:modified>
</cp:coreProperties>
</file>